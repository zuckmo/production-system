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8288000" cy="10287000"/>
  <p:notesSz cx="6858000" cy="9144000"/>
  <p:embeddedFontLst>
    <p:embeddedFont>
      <p:font typeface="Open Sauce" panose="020B0604020202020204" charset="0"/>
      <p:regular r:id="rId17"/>
    </p:embeddedFont>
    <p:embeddedFont>
      <p:font typeface="Open Sauce Bold" panose="020B0604020202020204" charset="0"/>
      <p:regular r:id="rId18"/>
    </p:embeddedFont>
    <p:embeddedFont>
      <p:font typeface="Signature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914372" y="1902122"/>
            <a:ext cx="1751694" cy="6482756"/>
            <a:chOff x="0" y="0"/>
            <a:chExt cx="461351" cy="17073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1351" cy="1707392"/>
            </a:xfrm>
            <a:custGeom>
              <a:avLst/>
              <a:gdLst/>
              <a:ahLst/>
              <a:cxnLst/>
              <a:rect l="l" t="t" r="r" b="b"/>
              <a:pathLst>
                <a:path w="461351" h="1707392">
                  <a:moveTo>
                    <a:pt x="154689" y="0"/>
                  </a:moveTo>
                  <a:lnTo>
                    <a:pt x="306663" y="0"/>
                  </a:lnTo>
                  <a:cubicBezTo>
                    <a:pt x="347689" y="0"/>
                    <a:pt x="387034" y="16298"/>
                    <a:pt x="416044" y="45307"/>
                  </a:cubicBezTo>
                  <a:cubicBezTo>
                    <a:pt x="445054" y="74317"/>
                    <a:pt x="461351" y="113663"/>
                    <a:pt x="461351" y="154689"/>
                  </a:cubicBezTo>
                  <a:lnTo>
                    <a:pt x="461351" y="1552704"/>
                  </a:lnTo>
                  <a:cubicBezTo>
                    <a:pt x="461351" y="1593730"/>
                    <a:pt x="445054" y="1633076"/>
                    <a:pt x="416044" y="1662085"/>
                  </a:cubicBezTo>
                  <a:cubicBezTo>
                    <a:pt x="387034" y="1691095"/>
                    <a:pt x="347689" y="1707392"/>
                    <a:pt x="306663" y="1707392"/>
                  </a:cubicBezTo>
                  <a:lnTo>
                    <a:pt x="154689" y="1707392"/>
                  </a:lnTo>
                  <a:cubicBezTo>
                    <a:pt x="113663" y="1707392"/>
                    <a:pt x="74317" y="1691095"/>
                    <a:pt x="45307" y="1662085"/>
                  </a:cubicBezTo>
                  <a:cubicBezTo>
                    <a:pt x="16298" y="1633076"/>
                    <a:pt x="0" y="1593730"/>
                    <a:pt x="0" y="1552704"/>
                  </a:cubicBezTo>
                  <a:lnTo>
                    <a:pt x="0" y="154689"/>
                  </a:lnTo>
                  <a:cubicBezTo>
                    <a:pt x="0" y="113663"/>
                    <a:pt x="16298" y="74317"/>
                    <a:pt x="45307" y="45307"/>
                  </a:cubicBezTo>
                  <a:cubicBezTo>
                    <a:pt x="74317" y="16298"/>
                    <a:pt x="113663" y="0"/>
                    <a:pt x="154689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1351" cy="1745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99263" y="3487673"/>
            <a:ext cx="16185156" cy="3997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04"/>
              </a:lnSpc>
            </a:pPr>
            <a:r>
              <a:rPr lang="en-US" sz="18400" b="1" spc="-1324">
                <a:solidFill>
                  <a:srgbClr val="E9E9E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PRODUCTION</a:t>
            </a:r>
          </a:p>
          <a:p>
            <a:pPr algn="ctr">
              <a:lnSpc>
                <a:spcPts val="14904"/>
              </a:lnSpc>
            </a:pPr>
            <a:r>
              <a:rPr lang="en-US" sz="18400" b="1" spc="-1324">
                <a:solidFill>
                  <a:srgbClr val="E9E9E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PRODUCTION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594906" y="3680317"/>
            <a:ext cx="721160" cy="296850"/>
            <a:chOff x="0" y="0"/>
            <a:chExt cx="189935" cy="7818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9935" cy="78183"/>
            </a:xfrm>
            <a:custGeom>
              <a:avLst/>
              <a:gdLst/>
              <a:ahLst/>
              <a:cxnLst/>
              <a:rect l="l" t="t" r="r" b="b"/>
              <a:pathLst>
                <a:path w="189935" h="78183">
                  <a:moveTo>
                    <a:pt x="39091" y="0"/>
                  </a:moveTo>
                  <a:lnTo>
                    <a:pt x="150844" y="0"/>
                  </a:lnTo>
                  <a:cubicBezTo>
                    <a:pt x="172433" y="0"/>
                    <a:pt x="189935" y="17502"/>
                    <a:pt x="189935" y="39091"/>
                  </a:cubicBezTo>
                  <a:lnTo>
                    <a:pt x="189935" y="39091"/>
                  </a:lnTo>
                  <a:cubicBezTo>
                    <a:pt x="189935" y="49459"/>
                    <a:pt x="185817" y="59402"/>
                    <a:pt x="178485" y="66733"/>
                  </a:cubicBezTo>
                  <a:cubicBezTo>
                    <a:pt x="171154" y="74064"/>
                    <a:pt x="161211" y="78183"/>
                    <a:pt x="150844" y="78183"/>
                  </a:cubicBezTo>
                  <a:lnTo>
                    <a:pt x="39091" y="78183"/>
                  </a:lnTo>
                  <a:cubicBezTo>
                    <a:pt x="28724" y="78183"/>
                    <a:pt x="18781" y="74064"/>
                    <a:pt x="11450" y="66733"/>
                  </a:cubicBezTo>
                  <a:cubicBezTo>
                    <a:pt x="4119" y="59402"/>
                    <a:pt x="0" y="49459"/>
                    <a:pt x="0" y="39091"/>
                  </a:cubicBezTo>
                  <a:lnTo>
                    <a:pt x="0" y="39091"/>
                  </a:lnTo>
                  <a:cubicBezTo>
                    <a:pt x="0" y="28724"/>
                    <a:pt x="4119" y="18781"/>
                    <a:pt x="11450" y="11450"/>
                  </a:cubicBezTo>
                  <a:cubicBezTo>
                    <a:pt x="18781" y="4119"/>
                    <a:pt x="28724" y="0"/>
                    <a:pt x="39091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89935" cy="116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96244" y="3680317"/>
            <a:ext cx="296850" cy="29685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096993" y="3691418"/>
            <a:ext cx="12094015" cy="2567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68"/>
              </a:lnSpc>
            </a:pPr>
            <a:r>
              <a:rPr lang="en-US" sz="15048" b="1" spc="-1083">
                <a:solidFill>
                  <a:srgbClr val="F1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BUSINESS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03582" y="4153529"/>
            <a:ext cx="9080836" cy="2202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b="1" spc="-453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INDUSTRIAL PRODUCTION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52730" y="4315298"/>
            <a:ext cx="9005511" cy="3477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31"/>
              </a:lnSpc>
            </a:pPr>
            <a:r>
              <a:rPr lang="en-US" sz="20165" spc="-141">
                <a:solidFill>
                  <a:srgbClr val="2449CC"/>
                </a:solidFill>
                <a:latin typeface="Signature"/>
                <a:ea typeface="Signature"/>
                <a:cs typeface="Signature"/>
                <a:sym typeface="Signature"/>
              </a:rPr>
              <a:t>SYSTEMS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62617" y="9229725"/>
            <a:ext cx="1562766" cy="240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3"/>
              </a:lnSpc>
            </a:pPr>
            <a:r>
              <a:rPr lang="en-US" sz="1395" spc="-12">
                <a:solidFill>
                  <a:srgbClr val="212121"/>
                </a:solidFill>
                <a:latin typeface="Open Sauce"/>
                <a:ea typeface="Open Sauce"/>
                <a:cs typeface="Open Sauce"/>
                <a:sym typeface="Open Sauce"/>
              </a:rPr>
              <a:t>PRESENTED BY: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35763" y="9441934"/>
            <a:ext cx="2416473" cy="240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3"/>
              </a:lnSpc>
            </a:pPr>
            <a:r>
              <a:rPr lang="en-US" sz="1395" b="1" spc="-12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GURUH SUKMO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-1209843" y="-602900"/>
            <a:ext cx="4554972" cy="1205800"/>
            <a:chOff x="0" y="0"/>
            <a:chExt cx="1199663" cy="31757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942871" y="9684100"/>
            <a:ext cx="4554972" cy="1205800"/>
            <a:chOff x="0" y="0"/>
            <a:chExt cx="1199663" cy="31757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7719135" y="2332620"/>
            <a:ext cx="47770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 spc="-12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914372" y="1902122"/>
            <a:ext cx="1751694" cy="6482756"/>
            <a:chOff x="0" y="0"/>
            <a:chExt cx="461351" cy="17073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1351" cy="1707392"/>
            </a:xfrm>
            <a:custGeom>
              <a:avLst/>
              <a:gdLst/>
              <a:ahLst/>
              <a:cxnLst/>
              <a:rect l="l" t="t" r="r" b="b"/>
              <a:pathLst>
                <a:path w="461351" h="1707392">
                  <a:moveTo>
                    <a:pt x="154689" y="0"/>
                  </a:moveTo>
                  <a:lnTo>
                    <a:pt x="306663" y="0"/>
                  </a:lnTo>
                  <a:cubicBezTo>
                    <a:pt x="347689" y="0"/>
                    <a:pt x="387034" y="16298"/>
                    <a:pt x="416044" y="45307"/>
                  </a:cubicBezTo>
                  <a:cubicBezTo>
                    <a:pt x="445054" y="74317"/>
                    <a:pt x="461351" y="113663"/>
                    <a:pt x="461351" y="154689"/>
                  </a:cubicBezTo>
                  <a:lnTo>
                    <a:pt x="461351" y="1552704"/>
                  </a:lnTo>
                  <a:cubicBezTo>
                    <a:pt x="461351" y="1593730"/>
                    <a:pt x="445054" y="1633076"/>
                    <a:pt x="416044" y="1662085"/>
                  </a:cubicBezTo>
                  <a:cubicBezTo>
                    <a:pt x="387034" y="1691095"/>
                    <a:pt x="347689" y="1707392"/>
                    <a:pt x="306663" y="1707392"/>
                  </a:cubicBezTo>
                  <a:lnTo>
                    <a:pt x="154689" y="1707392"/>
                  </a:lnTo>
                  <a:cubicBezTo>
                    <a:pt x="113663" y="1707392"/>
                    <a:pt x="74317" y="1691095"/>
                    <a:pt x="45307" y="1662085"/>
                  </a:cubicBezTo>
                  <a:cubicBezTo>
                    <a:pt x="16298" y="1633076"/>
                    <a:pt x="0" y="1593730"/>
                    <a:pt x="0" y="1552704"/>
                  </a:cubicBezTo>
                  <a:lnTo>
                    <a:pt x="0" y="154689"/>
                  </a:lnTo>
                  <a:cubicBezTo>
                    <a:pt x="0" y="113663"/>
                    <a:pt x="16298" y="74317"/>
                    <a:pt x="45307" y="45307"/>
                  </a:cubicBezTo>
                  <a:cubicBezTo>
                    <a:pt x="74317" y="16298"/>
                    <a:pt x="113663" y="0"/>
                    <a:pt x="154689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1351" cy="1745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209843" y="-602900"/>
            <a:ext cx="4554972" cy="1205800"/>
            <a:chOff x="0" y="0"/>
            <a:chExt cx="1199663" cy="3175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942871" y="9684100"/>
            <a:ext cx="4554972" cy="1205800"/>
            <a:chOff x="0" y="0"/>
            <a:chExt cx="1199663" cy="3175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96421" y="4296156"/>
            <a:ext cx="5330759" cy="1602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5"/>
              </a:lnSpc>
            </a:pPr>
            <a:r>
              <a:rPr lang="en-US" sz="4500" b="1" spc="-324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REASONS CHOOSING THIS PROJECT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596236" y="886676"/>
            <a:ext cx="5413108" cy="3123658"/>
            <a:chOff x="0" y="0"/>
            <a:chExt cx="1425675" cy="82269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25675" cy="822692"/>
            </a:xfrm>
            <a:custGeom>
              <a:avLst/>
              <a:gdLst/>
              <a:ahLst/>
              <a:cxnLst/>
              <a:rect l="l" t="t" r="r" b="b"/>
              <a:pathLst>
                <a:path w="1425675" h="822692">
                  <a:moveTo>
                    <a:pt x="41476" y="0"/>
                  </a:moveTo>
                  <a:lnTo>
                    <a:pt x="1384198" y="0"/>
                  </a:lnTo>
                  <a:cubicBezTo>
                    <a:pt x="1407105" y="0"/>
                    <a:pt x="1425675" y="18570"/>
                    <a:pt x="1425675" y="41476"/>
                  </a:cubicBezTo>
                  <a:lnTo>
                    <a:pt x="1425675" y="781215"/>
                  </a:lnTo>
                  <a:cubicBezTo>
                    <a:pt x="1425675" y="804122"/>
                    <a:pt x="1407105" y="822692"/>
                    <a:pt x="1384198" y="822692"/>
                  </a:cubicBezTo>
                  <a:lnTo>
                    <a:pt x="41476" y="822692"/>
                  </a:lnTo>
                  <a:cubicBezTo>
                    <a:pt x="18570" y="822692"/>
                    <a:pt x="0" y="804122"/>
                    <a:pt x="0" y="781215"/>
                  </a:cubicBezTo>
                  <a:lnTo>
                    <a:pt x="0" y="41476"/>
                  </a:lnTo>
                  <a:cubicBezTo>
                    <a:pt x="0" y="18570"/>
                    <a:pt x="18570" y="0"/>
                    <a:pt x="41476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12121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425675" cy="8607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939161" y="1247542"/>
            <a:ext cx="4102375" cy="344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9"/>
              </a:lnSpc>
            </a:pPr>
            <a:r>
              <a:rPr lang="en-US" sz="2113" b="1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009344" y="4600753"/>
            <a:ext cx="6469398" cy="2298831"/>
            <a:chOff x="0" y="0"/>
            <a:chExt cx="1703874" cy="60545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03874" cy="605453"/>
            </a:xfrm>
            <a:custGeom>
              <a:avLst/>
              <a:gdLst/>
              <a:ahLst/>
              <a:cxnLst/>
              <a:rect l="l" t="t" r="r" b="b"/>
              <a:pathLst>
                <a:path w="1703874" h="605453">
                  <a:moveTo>
                    <a:pt x="34704" y="0"/>
                  </a:moveTo>
                  <a:lnTo>
                    <a:pt x="1669170" y="0"/>
                  </a:lnTo>
                  <a:cubicBezTo>
                    <a:pt x="1688337" y="0"/>
                    <a:pt x="1703874" y="15538"/>
                    <a:pt x="1703874" y="34704"/>
                  </a:cubicBezTo>
                  <a:lnTo>
                    <a:pt x="1703874" y="570749"/>
                  </a:lnTo>
                  <a:cubicBezTo>
                    <a:pt x="1703874" y="589916"/>
                    <a:pt x="1688337" y="605453"/>
                    <a:pt x="1669170" y="605453"/>
                  </a:cubicBezTo>
                  <a:lnTo>
                    <a:pt x="34704" y="605453"/>
                  </a:lnTo>
                  <a:cubicBezTo>
                    <a:pt x="15538" y="605453"/>
                    <a:pt x="0" y="589916"/>
                    <a:pt x="0" y="570749"/>
                  </a:cubicBezTo>
                  <a:lnTo>
                    <a:pt x="0" y="34704"/>
                  </a:lnTo>
                  <a:cubicBezTo>
                    <a:pt x="0" y="15538"/>
                    <a:pt x="15538" y="0"/>
                    <a:pt x="34704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12121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703874" cy="6435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450668" y="4799493"/>
            <a:ext cx="5586750" cy="344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9"/>
              </a:lnSpc>
            </a:pPr>
            <a:r>
              <a:rPr lang="en-US" sz="2113" b="1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Wy this matters?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4234793" y="7260228"/>
            <a:ext cx="8477361" cy="2423872"/>
            <a:chOff x="0" y="0"/>
            <a:chExt cx="1391860" cy="39796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91860" cy="397965"/>
            </a:xfrm>
            <a:custGeom>
              <a:avLst/>
              <a:gdLst/>
              <a:ahLst/>
              <a:cxnLst/>
              <a:rect l="l" t="t" r="r" b="b"/>
              <a:pathLst>
                <a:path w="1391860" h="397965">
                  <a:moveTo>
                    <a:pt x="21005" y="0"/>
                  </a:moveTo>
                  <a:lnTo>
                    <a:pt x="1370855" y="0"/>
                  </a:lnTo>
                  <a:cubicBezTo>
                    <a:pt x="1382456" y="0"/>
                    <a:pt x="1391860" y="9404"/>
                    <a:pt x="1391860" y="21005"/>
                  </a:cubicBezTo>
                  <a:lnTo>
                    <a:pt x="1391860" y="376960"/>
                  </a:lnTo>
                  <a:cubicBezTo>
                    <a:pt x="1391860" y="388561"/>
                    <a:pt x="1382456" y="397965"/>
                    <a:pt x="1370855" y="397965"/>
                  </a:cubicBezTo>
                  <a:lnTo>
                    <a:pt x="21005" y="397965"/>
                  </a:lnTo>
                  <a:cubicBezTo>
                    <a:pt x="9404" y="397965"/>
                    <a:pt x="0" y="388561"/>
                    <a:pt x="0" y="376960"/>
                  </a:cubicBezTo>
                  <a:lnTo>
                    <a:pt x="0" y="21005"/>
                  </a:lnTo>
                  <a:cubicBezTo>
                    <a:pt x="0" y="9404"/>
                    <a:pt x="9404" y="0"/>
                    <a:pt x="21005" y="0"/>
                  </a:cubicBezTo>
                  <a:close/>
                </a:path>
              </a:pathLst>
            </a:custGeom>
            <a:blipFill>
              <a:blip r:embed="rId2"/>
              <a:stretch>
                <a:fillRect t="-36926" b="-36926"/>
              </a:stretch>
            </a:blipFill>
            <a:ln w="9525" cap="rnd">
              <a:solidFill>
                <a:srgbClr val="212121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632692" y="6657328"/>
            <a:ext cx="1205800" cy="1205800"/>
            <a:chOff x="0" y="0"/>
            <a:chExt cx="317577" cy="31757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17577" cy="317577"/>
            </a:xfrm>
            <a:custGeom>
              <a:avLst/>
              <a:gdLst/>
              <a:ahLst/>
              <a:cxnLst/>
              <a:rect l="l" t="t" r="r" b="b"/>
              <a:pathLst>
                <a:path w="317577" h="317577">
                  <a:moveTo>
                    <a:pt x="158789" y="0"/>
                  </a:moveTo>
                  <a:lnTo>
                    <a:pt x="158789" y="0"/>
                  </a:lnTo>
                  <a:cubicBezTo>
                    <a:pt x="200902" y="0"/>
                    <a:pt x="241290" y="16729"/>
                    <a:pt x="271069" y="46508"/>
                  </a:cubicBezTo>
                  <a:cubicBezTo>
                    <a:pt x="300848" y="76287"/>
                    <a:pt x="317577" y="116675"/>
                    <a:pt x="317577" y="158789"/>
                  </a:cubicBezTo>
                  <a:lnTo>
                    <a:pt x="317577" y="158789"/>
                  </a:lnTo>
                  <a:cubicBezTo>
                    <a:pt x="317577" y="200902"/>
                    <a:pt x="300848" y="241290"/>
                    <a:pt x="271069" y="271069"/>
                  </a:cubicBezTo>
                  <a:cubicBezTo>
                    <a:pt x="241290" y="300848"/>
                    <a:pt x="200902" y="317577"/>
                    <a:pt x="158789" y="317577"/>
                  </a:cubicBezTo>
                  <a:lnTo>
                    <a:pt x="158789" y="317577"/>
                  </a:lnTo>
                  <a:cubicBezTo>
                    <a:pt x="116675" y="317577"/>
                    <a:pt x="76287" y="300848"/>
                    <a:pt x="46508" y="271069"/>
                  </a:cubicBezTo>
                  <a:cubicBezTo>
                    <a:pt x="16729" y="241290"/>
                    <a:pt x="0" y="200902"/>
                    <a:pt x="0" y="158789"/>
                  </a:cubicBezTo>
                  <a:lnTo>
                    <a:pt x="0" y="158789"/>
                  </a:lnTo>
                  <a:cubicBezTo>
                    <a:pt x="0" y="116675"/>
                    <a:pt x="16729" y="76287"/>
                    <a:pt x="46508" y="46508"/>
                  </a:cubicBezTo>
                  <a:cubicBezTo>
                    <a:pt x="76287" y="16729"/>
                    <a:pt x="116675" y="0"/>
                    <a:pt x="158789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317577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4874948" y="6899584"/>
            <a:ext cx="721288" cy="721288"/>
          </a:xfrm>
          <a:custGeom>
            <a:avLst/>
            <a:gdLst/>
            <a:ahLst/>
            <a:cxnLst/>
            <a:rect l="l" t="t" r="r" b="b"/>
            <a:pathLst>
              <a:path w="721288" h="721288">
                <a:moveTo>
                  <a:pt x="0" y="0"/>
                </a:moveTo>
                <a:lnTo>
                  <a:pt x="721288" y="0"/>
                </a:lnTo>
                <a:lnTo>
                  <a:pt x="721288" y="721288"/>
                </a:lnTo>
                <a:lnTo>
                  <a:pt x="0" y="721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6" name="TextBox 26"/>
          <p:cNvSpPr txBox="1"/>
          <p:nvPr/>
        </p:nvSpPr>
        <p:spPr>
          <a:xfrm>
            <a:off x="5939161" y="1815228"/>
            <a:ext cx="5175860" cy="1610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1679" lvl="1" indent="-200840" algn="l">
              <a:lnSpc>
                <a:spcPts val="2604"/>
              </a:lnSpc>
              <a:buFont typeface="Arial"/>
              <a:buChar char="•"/>
            </a:pPr>
            <a:r>
              <a:rPr lang="en-US" sz="1860">
                <a:solidFill>
                  <a:srgbClr val="636363"/>
                </a:solidFill>
                <a:latin typeface="Open Sauce"/>
                <a:ea typeface="Open Sauce"/>
                <a:cs typeface="Open Sauce"/>
                <a:sym typeface="Open Sauce"/>
              </a:rPr>
              <a:t>unpredicted downtime of machines</a:t>
            </a:r>
          </a:p>
          <a:p>
            <a:pPr marL="401679" lvl="1" indent="-200840" algn="l">
              <a:lnSpc>
                <a:spcPts val="2604"/>
              </a:lnSpc>
              <a:buFont typeface="Arial"/>
              <a:buChar char="•"/>
            </a:pPr>
            <a:r>
              <a:rPr lang="en-US" sz="1860">
                <a:solidFill>
                  <a:srgbClr val="636363"/>
                </a:solidFill>
                <a:latin typeface="Open Sauce"/>
                <a:ea typeface="Open Sauce"/>
                <a:cs typeface="Open Sauce"/>
                <a:sym typeface="Open Sauce"/>
              </a:rPr>
              <a:t>reactive quality control, not proactive</a:t>
            </a:r>
          </a:p>
          <a:p>
            <a:pPr marL="401679" lvl="1" indent="-200840" algn="l">
              <a:lnSpc>
                <a:spcPts val="2604"/>
              </a:lnSpc>
              <a:buFont typeface="Arial"/>
              <a:buChar char="•"/>
            </a:pPr>
            <a:r>
              <a:rPr lang="en-US" sz="1860">
                <a:solidFill>
                  <a:srgbClr val="636363"/>
                </a:solidFill>
                <a:latin typeface="Open Sauce"/>
                <a:ea typeface="Open Sauce"/>
                <a:cs typeface="Open Sauce"/>
                <a:sym typeface="Open Sauce"/>
              </a:rPr>
              <a:t>data is scattered in some systems</a:t>
            </a:r>
          </a:p>
          <a:p>
            <a:pPr marL="401679" lvl="1" indent="-200840" algn="l">
              <a:lnSpc>
                <a:spcPts val="2604"/>
              </a:lnSpc>
              <a:buFont typeface="Arial"/>
              <a:buChar char="•"/>
            </a:pPr>
            <a:r>
              <a:rPr lang="en-US" sz="1860">
                <a:solidFill>
                  <a:srgbClr val="636363"/>
                </a:solidFill>
                <a:latin typeface="Open Sauce"/>
                <a:ea typeface="Open Sauce"/>
                <a:cs typeface="Open Sauce"/>
                <a:sym typeface="Open Sauce"/>
              </a:rPr>
              <a:t>hard to identify bottleneck</a:t>
            </a:r>
          </a:p>
          <a:p>
            <a:pPr marL="401679" lvl="1" indent="-200840" algn="l">
              <a:lnSpc>
                <a:spcPts val="2604"/>
              </a:lnSpc>
              <a:buFont typeface="Arial"/>
              <a:buChar char="•"/>
            </a:pPr>
            <a:r>
              <a:rPr lang="en-US" sz="1860">
                <a:solidFill>
                  <a:srgbClr val="636363"/>
                </a:solidFill>
                <a:latin typeface="Open Sauce"/>
                <a:ea typeface="Open Sauce"/>
                <a:cs typeface="Open Sauce"/>
                <a:sym typeface="Open Sauce"/>
              </a:rPr>
              <a:t>maintenance cost is not optimal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35779" y="5289490"/>
            <a:ext cx="6042963" cy="1610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1679" lvl="1" indent="-200840" algn="l">
              <a:lnSpc>
                <a:spcPts val="2604"/>
              </a:lnSpc>
              <a:buFont typeface="Arial"/>
              <a:buChar char="•"/>
            </a:pPr>
            <a:r>
              <a:rPr lang="en-US" sz="1860">
                <a:solidFill>
                  <a:srgbClr val="636363"/>
                </a:solidFill>
                <a:latin typeface="Open Sauce"/>
                <a:ea typeface="Open Sauce"/>
                <a:cs typeface="Open Sauce"/>
                <a:sym typeface="Open Sauce"/>
              </a:rPr>
              <a:t>Operational: 25% efficiency improvement</a:t>
            </a:r>
          </a:p>
          <a:p>
            <a:pPr marL="401679" lvl="1" indent="-200840" algn="l">
              <a:lnSpc>
                <a:spcPts val="2604"/>
              </a:lnSpc>
              <a:buFont typeface="Arial"/>
              <a:buChar char="•"/>
            </a:pPr>
            <a:r>
              <a:rPr lang="en-US" sz="1860">
                <a:solidFill>
                  <a:srgbClr val="636363"/>
                </a:solidFill>
                <a:latin typeface="Open Sauce"/>
                <a:ea typeface="Open Sauce"/>
                <a:cs typeface="Open Sauce"/>
                <a:sym typeface="Open Sauce"/>
              </a:rPr>
              <a:t>Strategic: Competitive advantage via Industry 4.0</a:t>
            </a:r>
          </a:p>
          <a:p>
            <a:pPr marL="401679" lvl="1" indent="-200840" algn="l">
              <a:lnSpc>
                <a:spcPts val="2604"/>
              </a:lnSpc>
              <a:buFont typeface="Arial"/>
              <a:buChar char="•"/>
            </a:pPr>
            <a:r>
              <a:rPr lang="en-US" sz="1860">
                <a:solidFill>
                  <a:srgbClr val="636363"/>
                </a:solidFill>
                <a:latin typeface="Open Sauce"/>
                <a:ea typeface="Open Sauce"/>
                <a:cs typeface="Open Sauce"/>
                <a:sym typeface="Open Sauce"/>
              </a:rPr>
              <a:t>Sustainability: Reduce waste &amp; energy use</a:t>
            </a:r>
          </a:p>
          <a:p>
            <a:pPr marL="401679" lvl="1" indent="-200840" algn="l">
              <a:lnSpc>
                <a:spcPts val="2604"/>
              </a:lnSpc>
              <a:buFont typeface="Arial"/>
              <a:buChar char="•"/>
            </a:pPr>
            <a:r>
              <a:rPr lang="en-US" sz="1860">
                <a:solidFill>
                  <a:srgbClr val="636363"/>
                </a:solidFill>
                <a:latin typeface="Open Sauce"/>
                <a:ea typeface="Open Sauce"/>
                <a:cs typeface="Open Sauce"/>
                <a:sym typeface="Open Sauce"/>
              </a:rPr>
              <a:t>Impact finansial</a:t>
            </a:r>
          </a:p>
          <a:p>
            <a:pPr algn="l">
              <a:lnSpc>
                <a:spcPts val="2604"/>
              </a:lnSpc>
            </a:pPr>
            <a:endParaRPr lang="en-US" sz="1860">
              <a:solidFill>
                <a:srgbClr val="636363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914372" y="1902122"/>
            <a:ext cx="1751694" cy="6482756"/>
            <a:chOff x="0" y="0"/>
            <a:chExt cx="461351" cy="17073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1351" cy="1707392"/>
            </a:xfrm>
            <a:custGeom>
              <a:avLst/>
              <a:gdLst/>
              <a:ahLst/>
              <a:cxnLst/>
              <a:rect l="l" t="t" r="r" b="b"/>
              <a:pathLst>
                <a:path w="461351" h="1707392">
                  <a:moveTo>
                    <a:pt x="154689" y="0"/>
                  </a:moveTo>
                  <a:lnTo>
                    <a:pt x="306663" y="0"/>
                  </a:lnTo>
                  <a:cubicBezTo>
                    <a:pt x="347689" y="0"/>
                    <a:pt x="387034" y="16298"/>
                    <a:pt x="416044" y="45307"/>
                  </a:cubicBezTo>
                  <a:cubicBezTo>
                    <a:pt x="445054" y="74317"/>
                    <a:pt x="461351" y="113663"/>
                    <a:pt x="461351" y="154689"/>
                  </a:cubicBezTo>
                  <a:lnTo>
                    <a:pt x="461351" y="1552704"/>
                  </a:lnTo>
                  <a:cubicBezTo>
                    <a:pt x="461351" y="1593730"/>
                    <a:pt x="445054" y="1633076"/>
                    <a:pt x="416044" y="1662085"/>
                  </a:cubicBezTo>
                  <a:cubicBezTo>
                    <a:pt x="387034" y="1691095"/>
                    <a:pt x="347689" y="1707392"/>
                    <a:pt x="306663" y="1707392"/>
                  </a:cubicBezTo>
                  <a:lnTo>
                    <a:pt x="154689" y="1707392"/>
                  </a:lnTo>
                  <a:cubicBezTo>
                    <a:pt x="113663" y="1707392"/>
                    <a:pt x="74317" y="1691095"/>
                    <a:pt x="45307" y="1662085"/>
                  </a:cubicBezTo>
                  <a:cubicBezTo>
                    <a:pt x="16298" y="1633076"/>
                    <a:pt x="0" y="1593730"/>
                    <a:pt x="0" y="1552704"/>
                  </a:cubicBezTo>
                  <a:lnTo>
                    <a:pt x="0" y="154689"/>
                  </a:lnTo>
                  <a:cubicBezTo>
                    <a:pt x="0" y="113663"/>
                    <a:pt x="16298" y="74317"/>
                    <a:pt x="45307" y="45307"/>
                  </a:cubicBezTo>
                  <a:cubicBezTo>
                    <a:pt x="74317" y="16298"/>
                    <a:pt x="113663" y="0"/>
                    <a:pt x="154689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1351" cy="1745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209843" y="-602900"/>
            <a:ext cx="4554972" cy="1205800"/>
            <a:chOff x="0" y="0"/>
            <a:chExt cx="1199663" cy="3175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942871" y="9684100"/>
            <a:ext cx="4554972" cy="1205800"/>
            <a:chOff x="0" y="0"/>
            <a:chExt cx="1199663" cy="3175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48519" y="2174754"/>
            <a:ext cx="16190962" cy="7083546"/>
          </a:xfrm>
          <a:custGeom>
            <a:avLst/>
            <a:gdLst/>
            <a:ahLst/>
            <a:cxnLst/>
            <a:rect l="l" t="t" r="r" b="b"/>
            <a:pathLst>
              <a:path w="16190962" h="7083546">
                <a:moveTo>
                  <a:pt x="0" y="0"/>
                </a:moveTo>
                <a:lnTo>
                  <a:pt x="16190962" y="0"/>
                </a:lnTo>
                <a:lnTo>
                  <a:pt x="16190962" y="7083546"/>
                </a:lnTo>
                <a:lnTo>
                  <a:pt x="0" y="7083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2" name="TextBox 12"/>
          <p:cNvSpPr txBox="1"/>
          <p:nvPr/>
        </p:nvSpPr>
        <p:spPr>
          <a:xfrm>
            <a:off x="17719135" y="2332620"/>
            <a:ext cx="47770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 spc="-12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7643" y="516256"/>
            <a:ext cx="15527011" cy="920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5400" b="1" spc="-388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FINANCIAL LOSSES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3853" y="1991105"/>
            <a:ext cx="15620295" cy="6990082"/>
          </a:xfrm>
          <a:custGeom>
            <a:avLst/>
            <a:gdLst/>
            <a:ahLst/>
            <a:cxnLst/>
            <a:rect l="l" t="t" r="r" b="b"/>
            <a:pathLst>
              <a:path w="15620295" h="6990082">
                <a:moveTo>
                  <a:pt x="0" y="0"/>
                </a:moveTo>
                <a:lnTo>
                  <a:pt x="15620294" y="0"/>
                </a:lnTo>
                <a:lnTo>
                  <a:pt x="15620294" y="6990082"/>
                </a:lnTo>
                <a:lnTo>
                  <a:pt x="0" y="6990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TextBox 3"/>
          <p:cNvSpPr txBox="1"/>
          <p:nvPr/>
        </p:nvSpPr>
        <p:spPr>
          <a:xfrm>
            <a:off x="1067643" y="516256"/>
            <a:ext cx="15527011" cy="920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5400" b="1" spc="-388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THE LOSSES KEPT GROWING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914372" y="1902122"/>
            <a:ext cx="1751694" cy="6482756"/>
            <a:chOff x="0" y="0"/>
            <a:chExt cx="461351" cy="17073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1351" cy="1707392"/>
            </a:xfrm>
            <a:custGeom>
              <a:avLst/>
              <a:gdLst/>
              <a:ahLst/>
              <a:cxnLst/>
              <a:rect l="l" t="t" r="r" b="b"/>
              <a:pathLst>
                <a:path w="461351" h="1707392">
                  <a:moveTo>
                    <a:pt x="154689" y="0"/>
                  </a:moveTo>
                  <a:lnTo>
                    <a:pt x="306663" y="0"/>
                  </a:lnTo>
                  <a:cubicBezTo>
                    <a:pt x="347689" y="0"/>
                    <a:pt x="387034" y="16298"/>
                    <a:pt x="416044" y="45307"/>
                  </a:cubicBezTo>
                  <a:cubicBezTo>
                    <a:pt x="445054" y="74317"/>
                    <a:pt x="461351" y="113663"/>
                    <a:pt x="461351" y="154689"/>
                  </a:cubicBezTo>
                  <a:lnTo>
                    <a:pt x="461351" y="1552704"/>
                  </a:lnTo>
                  <a:cubicBezTo>
                    <a:pt x="461351" y="1593730"/>
                    <a:pt x="445054" y="1633076"/>
                    <a:pt x="416044" y="1662085"/>
                  </a:cubicBezTo>
                  <a:cubicBezTo>
                    <a:pt x="387034" y="1691095"/>
                    <a:pt x="347689" y="1707392"/>
                    <a:pt x="306663" y="1707392"/>
                  </a:cubicBezTo>
                  <a:lnTo>
                    <a:pt x="154689" y="1707392"/>
                  </a:lnTo>
                  <a:cubicBezTo>
                    <a:pt x="113663" y="1707392"/>
                    <a:pt x="74317" y="1691095"/>
                    <a:pt x="45307" y="1662085"/>
                  </a:cubicBezTo>
                  <a:cubicBezTo>
                    <a:pt x="16298" y="1633076"/>
                    <a:pt x="0" y="1593730"/>
                    <a:pt x="0" y="1552704"/>
                  </a:cubicBezTo>
                  <a:lnTo>
                    <a:pt x="0" y="154689"/>
                  </a:lnTo>
                  <a:cubicBezTo>
                    <a:pt x="0" y="113663"/>
                    <a:pt x="16298" y="74317"/>
                    <a:pt x="45307" y="45307"/>
                  </a:cubicBezTo>
                  <a:cubicBezTo>
                    <a:pt x="74317" y="16298"/>
                    <a:pt x="113663" y="0"/>
                    <a:pt x="154689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1351" cy="1745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209843" y="-602900"/>
            <a:ext cx="4554972" cy="1205800"/>
            <a:chOff x="0" y="0"/>
            <a:chExt cx="1199663" cy="3175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942871" y="9684100"/>
            <a:ext cx="4554972" cy="1205800"/>
            <a:chOff x="0" y="0"/>
            <a:chExt cx="1199663" cy="3175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3493371" y="2505022"/>
            <a:ext cx="11301259" cy="3616403"/>
          </a:xfrm>
          <a:custGeom>
            <a:avLst/>
            <a:gdLst/>
            <a:ahLst/>
            <a:cxnLst/>
            <a:rect l="l" t="t" r="r" b="b"/>
            <a:pathLst>
              <a:path w="11301259" h="3616403">
                <a:moveTo>
                  <a:pt x="0" y="0"/>
                </a:moveTo>
                <a:lnTo>
                  <a:pt x="11301258" y="0"/>
                </a:lnTo>
                <a:lnTo>
                  <a:pt x="11301258" y="3616403"/>
                </a:lnTo>
                <a:lnTo>
                  <a:pt x="0" y="36164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2" name="TextBox 12"/>
          <p:cNvSpPr txBox="1"/>
          <p:nvPr/>
        </p:nvSpPr>
        <p:spPr>
          <a:xfrm>
            <a:off x="17719135" y="2332620"/>
            <a:ext cx="47770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 spc="-12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56065" y="952929"/>
            <a:ext cx="9975870" cy="1142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1"/>
              </a:lnSpc>
            </a:pPr>
            <a:r>
              <a:rPr lang="en-US" sz="4700" b="1" spc="-338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COMPETITIVE POSITIONING AND IDENTIFICATION GAP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949" y="6948701"/>
            <a:ext cx="11767235" cy="232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Identified Gaps:</a:t>
            </a: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Lack of Integration: No fully integrated open-source solution available</a:t>
            </a: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Cost Barrier: Enterprise solutions are too expensive for SMEs</a:t>
            </a: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Limited Insights: Dashboards exist, but lack ML-powered predictions</a:t>
            </a: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User Experience: Complex interfaces, difficult for non-technical users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Our Advantages: Affordable, Customizable, Predictive, User-Friendly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914372" y="1902122"/>
            <a:ext cx="1751694" cy="6482756"/>
            <a:chOff x="0" y="0"/>
            <a:chExt cx="461351" cy="17073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1351" cy="1707392"/>
            </a:xfrm>
            <a:custGeom>
              <a:avLst/>
              <a:gdLst/>
              <a:ahLst/>
              <a:cxnLst/>
              <a:rect l="l" t="t" r="r" b="b"/>
              <a:pathLst>
                <a:path w="461351" h="1707392">
                  <a:moveTo>
                    <a:pt x="154689" y="0"/>
                  </a:moveTo>
                  <a:lnTo>
                    <a:pt x="306663" y="0"/>
                  </a:lnTo>
                  <a:cubicBezTo>
                    <a:pt x="347689" y="0"/>
                    <a:pt x="387034" y="16298"/>
                    <a:pt x="416044" y="45307"/>
                  </a:cubicBezTo>
                  <a:cubicBezTo>
                    <a:pt x="445054" y="74317"/>
                    <a:pt x="461351" y="113663"/>
                    <a:pt x="461351" y="154689"/>
                  </a:cubicBezTo>
                  <a:lnTo>
                    <a:pt x="461351" y="1552704"/>
                  </a:lnTo>
                  <a:cubicBezTo>
                    <a:pt x="461351" y="1593730"/>
                    <a:pt x="445054" y="1633076"/>
                    <a:pt x="416044" y="1662085"/>
                  </a:cubicBezTo>
                  <a:cubicBezTo>
                    <a:pt x="387034" y="1691095"/>
                    <a:pt x="347689" y="1707392"/>
                    <a:pt x="306663" y="1707392"/>
                  </a:cubicBezTo>
                  <a:lnTo>
                    <a:pt x="154689" y="1707392"/>
                  </a:lnTo>
                  <a:cubicBezTo>
                    <a:pt x="113663" y="1707392"/>
                    <a:pt x="74317" y="1691095"/>
                    <a:pt x="45307" y="1662085"/>
                  </a:cubicBezTo>
                  <a:cubicBezTo>
                    <a:pt x="16298" y="1633076"/>
                    <a:pt x="0" y="1593730"/>
                    <a:pt x="0" y="1552704"/>
                  </a:cubicBezTo>
                  <a:lnTo>
                    <a:pt x="0" y="154689"/>
                  </a:lnTo>
                  <a:cubicBezTo>
                    <a:pt x="0" y="113663"/>
                    <a:pt x="16298" y="74317"/>
                    <a:pt x="45307" y="45307"/>
                  </a:cubicBezTo>
                  <a:cubicBezTo>
                    <a:pt x="74317" y="16298"/>
                    <a:pt x="113663" y="0"/>
                    <a:pt x="154689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1351" cy="1745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209843" y="-602900"/>
            <a:ext cx="4554972" cy="1205800"/>
            <a:chOff x="0" y="0"/>
            <a:chExt cx="1199663" cy="3175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942871" y="9684100"/>
            <a:ext cx="4554972" cy="1205800"/>
            <a:chOff x="0" y="0"/>
            <a:chExt cx="1199663" cy="3175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773883" y="4372356"/>
            <a:ext cx="5330759" cy="174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96"/>
              </a:lnSpc>
            </a:pPr>
            <a:r>
              <a:rPr lang="en-US" sz="7200" b="1" spc="-518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OUR SOLUTION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72845" y="6544856"/>
            <a:ext cx="5132834" cy="725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428">
                <a:solidFill>
                  <a:srgbClr val="636363"/>
                </a:solidFill>
                <a:latin typeface="Open Sauce"/>
                <a:ea typeface="Open Sauce"/>
                <a:cs typeface="Open Sauce"/>
                <a:sym typeface="Open Sauce"/>
              </a:rPr>
              <a:t>Integrated Production</a:t>
            </a:r>
          </a:p>
          <a:p>
            <a:pPr algn="l">
              <a:lnSpc>
                <a:spcPts val="1999"/>
              </a:lnSpc>
            </a:pPr>
            <a:r>
              <a:rPr lang="en-US" sz="1428">
                <a:solidFill>
                  <a:srgbClr val="636363"/>
                </a:solidFill>
                <a:latin typeface="Open Sauce"/>
                <a:ea typeface="Open Sauce"/>
                <a:cs typeface="Open Sauce"/>
                <a:sym typeface="Open Sauce"/>
              </a:rPr>
              <a:t>Analytics</a:t>
            </a:r>
          </a:p>
          <a:p>
            <a:pPr algn="l">
              <a:lnSpc>
                <a:spcPts val="1999"/>
              </a:lnSpc>
            </a:pPr>
            <a:endParaRPr lang="en-US" sz="1428">
              <a:solidFill>
                <a:srgbClr val="636363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8493242" y="1623878"/>
            <a:ext cx="6469398" cy="1484044"/>
            <a:chOff x="0" y="0"/>
            <a:chExt cx="1703874" cy="39085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03874" cy="390859"/>
            </a:xfrm>
            <a:custGeom>
              <a:avLst/>
              <a:gdLst/>
              <a:ahLst/>
              <a:cxnLst/>
              <a:rect l="l" t="t" r="r" b="b"/>
              <a:pathLst>
                <a:path w="1703874" h="390859">
                  <a:moveTo>
                    <a:pt x="34704" y="0"/>
                  </a:moveTo>
                  <a:lnTo>
                    <a:pt x="1669170" y="0"/>
                  </a:lnTo>
                  <a:cubicBezTo>
                    <a:pt x="1688337" y="0"/>
                    <a:pt x="1703874" y="15538"/>
                    <a:pt x="1703874" y="34704"/>
                  </a:cubicBezTo>
                  <a:lnTo>
                    <a:pt x="1703874" y="356155"/>
                  </a:lnTo>
                  <a:cubicBezTo>
                    <a:pt x="1703874" y="375322"/>
                    <a:pt x="1688337" y="390859"/>
                    <a:pt x="1669170" y="390859"/>
                  </a:cubicBezTo>
                  <a:lnTo>
                    <a:pt x="34704" y="390859"/>
                  </a:lnTo>
                  <a:cubicBezTo>
                    <a:pt x="15538" y="390859"/>
                    <a:pt x="0" y="375322"/>
                    <a:pt x="0" y="356155"/>
                  </a:cubicBezTo>
                  <a:lnTo>
                    <a:pt x="0" y="34704"/>
                  </a:lnTo>
                  <a:cubicBezTo>
                    <a:pt x="0" y="15538"/>
                    <a:pt x="15538" y="0"/>
                    <a:pt x="34704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12121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703874" cy="428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144000" y="2184429"/>
            <a:ext cx="5221726" cy="344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9"/>
              </a:lnSpc>
            </a:pPr>
            <a:r>
              <a:rPr lang="en-US" sz="2113" b="1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OEE Quantification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520164" y="5238203"/>
            <a:ext cx="6469398" cy="1484044"/>
            <a:chOff x="0" y="0"/>
            <a:chExt cx="1703874" cy="39085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03874" cy="390859"/>
            </a:xfrm>
            <a:custGeom>
              <a:avLst/>
              <a:gdLst/>
              <a:ahLst/>
              <a:cxnLst/>
              <a:rect l="l" t="t" r="r" b="b"/>
              <a:pathLst>
                <a:path w="1703874" h="390859">
                  <a:moveTo>
                    <a:pt x="34704" y="0"/>
                  </a:moveTo>
                  <a:lnTo>
                    <a:pt x="1669170" y="0"/>
                  </a:lnTo>
                  <a:cubicBezTo>
                    <a:pt x="1688337" y="0"/>
                    <a:pt x="1703874" y="15538"/>
                    <a:pt x="1703874" y="34704"/>
                  </a:cubicBezTo>
                  <a:lnTo>
                    <a:pt x="1703874" y="356155"/>
                  </a:lnTo>
                  <a:cubicBezTo>
                    <a:pt x="1703874" y="375322"/>
                    <a:pt x="1688337" y="390859"/>
                    <a:pt x="1669170" y="390859"/>
                  </a:cubicBezTo>
                  <a:lnTo>
                    <a:pt x="34704" y="390859"/>
                  </a:lnTo>
                  <a:cubicBezTo>
                    <a:pt x="15538" y="390859"/>
                    <a:pt x="0" y="375322"/>
                    <a:pt x="0" y="356155"/>
                  </a:cubicBezTo>
                  <a:lnTo>
                    <a:pt x="0" y="34704"/>
                  </a:lnTo>
                  <a:cubicBezTo>
                    <a:pt x="0" y="15538"/>
                    <a:pt x="15538" y="0"/>
                    <a:pt x="34704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12121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703874" cy="428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8961488" y="5793934"/>
            <a:ext cx="5586750" cy="344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9"/>
              </a:lnSpc>
            </a:pPr>
            <a:r>
              <a:rPr lang="en-US" sz="2113" b="1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Defect Risk Prediction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473473" y="3430309"/>
            <a:ext cx="6469398" cy="1484044"/>
            <a:chOff x="0" y="0"/>
            <a:chExt cx="1703874" cy="39085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703874" cy="390859"/>
            </a:xfrm>
            <a:custGeom>
              <a:avLst/>
              <a:gdLst/>
              <a:ahLst/>
              <a:cxnLst/>
              <a:rect l="l" t="t" r="r" b="b"/>
              <a:pathLst>
                <a:path w="1703874" h="390859">
                  <a:moveTo>
                    <a:pt x="34704" y="0"/>
                  </a:moveTo>
                  <a:lnTo>
                    <a:pt x="1669170" y="0"/>
                  </a:lnTo>
                  <a:cubicBezTo>
                    <a:pt x="1688337" y="0"/>
                    <a:pt x="1703874" y="15538"/>
                    <a:pt x="1703874" y="34704"/>
                  </a:cubicBezTo>
                  <a:lnTo>
                    <a:pt x="1703874" y="356155"/>
                  </a:lnTo>
                  <a:cubicBezTo>
                    <a:pt x="1703874" y="375322"/>
                    <a:pt x="1688337" y="390859"/>
                    <a:pt x="1669170" y="390859"/>
                  </a:cubicBezTo>
                  <a:lnTo>
                    <a:pt x="34704" y="390859"/>
                  </a:lnTo>
                  <a:cubicBezTo>
                    <a:pt x="15538" y="390859"/>
                    <a:pt x="0" y="375322"/>
                    <a:pt x="0" y="356155"/>
                  </a:cubicBezTo>
                  <a:lnTo>
                    <a:pt x="0" y="34704"/>
                  </a:lnTo>
                  <a:cubicBezTo>
                    <a:pt x="0" y="15538"/>
                    <a:pt x="15538" y="0"/>
                    <a:pt x="34704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12121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703874" cy="428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124231" y="3990859"/>
            <a:ext cx="5221726" cy="344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9"/>
              </a:lnSpc>
            </a:pPr>
            <a:r>
              <a:rPr lang="en-US" sz="2113" b="1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Machine Condition Clustering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500395" y="7046097"/>
            <a:ext cx="6469398" cy="1484044"/>
            <a:chOff x="0" y="0"/>
            <a:chExt cx="1703874" cy="39085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703874" cy="390859"/>
            </a:xfrm>
            <a:custGeom>
              <a:avLst/>
              <a:gdLst/>
              <a:ahLst/>
              <a:cxnLst/>
              <a:rect l="l" t="t" r="r" b="b"/>
              <a:pathLst>
                <a:path w="1703874" h="390859">
                  <a:moveTo>
                    <a:pt x="34704" y="0"/>
                  </a:moveTo>
                  <a:lnTo>
                    <a:pt x="1669170" y="0"/>
                  </a:lnTo>
                  <a:cubicBezTo>
                    <a:pt x="1688337" y="0"/>
                    <a:pt x="1703874" y="15538"/>
                    <a:pt x="1703874" y="34704"/>
                  </a:cubicBezTo>
                  <a:lnTo>
                    <a:pt x="1703874" y="356155"/>
                  </a:lnTo>
                  <a:cubicBezTo>
                    <a:pt x="1703874" y="375322"/>
                    <a:pt x="1688337" y="390859"/>
                    <a:pt x="1669170" y="390859"/>
                  </a:cubicBezTo>
                  <a:lnTo>
                    <a:pt x="34704" y="390859"/>
                  </a:lnTo>
                  <a:cubicBezTo>
                    <a:pt x="15538" y="390859"/>
                    <a:pt x="0" y="375322"/>
                    <a:pt x="0" y="356155"/>
                  </a:cubicBezTo>
                  <a:lnTo>
                    <a:pt x="0" y="34704"/>
                  </a:lnTo>
                  <a:cubicBezTo>
                    <a:pt x="0" y="15538"/>
                    <a:pt x="15538" y="0"/>
                    <a:pt x="34704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12121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703874" cy="428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8941719" y="7601828"/>
            <a:ext cx="5586750" cy="344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9"/>
              </a:lnSpc>
            </a:pPr>
            <a:r>
              <a:rPr lang="en-US" sz="2113" b="1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Identify Bottleneck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914372" y="1902122"/>
            <a:ext cx="1751694" cy="6482756"/>
            <a:chOff x="0" y="0"/>
            <a:chExt cx="461351" cy="17073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1351" cy="1707392"/>
            </a:xfrm>
            <a:custGeom>
              <a:avLst/>
              <a:gdLst/>
              <a:ahLst/>
              <a:cxnLst/>
              <a:rect l="l" t="t" r="r" b="b"/>
              <a:pathLst>
                <a:path w="461351" h="1707392">
                  <a:moveTo>
                    <a:pt x="154689" y="0"/>
                  </a:moveTo>
                  <a:lnTo>
                    <a:pt x="306663" y="0"/>
                  </a:lnTo>
                  <a:cubicBezTo>
                    <a:pt x="347689" y="0"/>
                    <a:pt x="387034" y="16298"/>
                    <a:pt x="416044" y="45307"/>
                  </a:cubicBezTo>
                  <a:cubicBezTo>
                    <a:pt x="445054" y="74317"/>
                    <a:pt x="461351" y="113663"/>
                    <a:pt x="461351" y="154689"/>
                  </a:cubicBezTo>
                  <a:lnTo>
                    <a:pt x="461351" y="1552704"/>
                  </a:lnTo>
                  <a:cubicBezTo>
                    <a:pt x="461351" y="1593730"/>
                    <a:pt x="445054" y="1633076"/>
                    <a:pt x="416044" y="1662085"/>
                  </a:cubicBezTo>
                  <a:cubicBezTo>
                    <a:pt x="387034" y="1691095"/>
                    <a:pt x="347689" y="1707392"/>
                    <a:pt x="306663" y="1707392"/>
                  </a:cubicBezTo>
                  <a:lnTo>
                    <a:pt x="154689" y="1707392"/>
                  </a:lnTo>
                  <a:cubicBezTo>
                    <a:pt x="113663" y="1707392"/>
                    <a:pt x="74317" y="1691095"/>
                    <a:pt x="45307" y="1662085"/>
                  </a:cubicBezTo>
                  <a:cubicBezTo>
                    <a:pt x="16298" y="1633076"/>
                    <a:pt x="0" y="1593730"/>
                    <a:pt x="0" y="1552704"/>
                  </a:cubicBezTo>
                  <a:lnTo>
                    <a:pt x="0" y="154689"/>
                  </a:lnTo>
                  <a:cubicBezTo>
                    <a:pt x="0" y="113663"/>
                    <a:pt x="16298" y="74317"/>
                    <a:pt x="45307" y="45307"/>
                  </a:cubicBezTo>
                  <a:cubicBezTo>
                    <a:pt x="74317" y="16298"/>
                    <a:pt x="113663" y="0"/>
                    <a:pt x="154689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1351" cy="1745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209843" y="-602900"/>
            <a:ext cx="4554972" cy="1205800"/>
            <a:chOff x="0" y="0"/>
            <a:chExt cx="1199663" cy="3175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942871" y="9684100"/>
            <a:ext cx="4554972" cy="1205800"/>
            <a:chOff x="0" y="0"/>
            <a:chExt cx="1199663" cy="3175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5767564" y="2102944"/>
            <a:ext cx="9524600" cy="7155356"/>
          </a:xfrm>
          <a:custGeom>
            <a:avLst/>
            <a:gdLst/>
            <a:ahLst/>
            <a:cxnLst/>
            <a:rect l="l" t="t" r="r" b="b"/>
            <a:pathLst>
              <a:path w="9524600" h="7155356">
                <a:moveTo>
                  <a:pt x="0" y="0"/>
                </a:moveTo>
                <a:lnTo>
                  <a:pt x="9524601" y="0"/>
                </a:lnTo>
                <a:lnTo>
                  <a:pt x="9524601" y="7155356"/>
                </a:lnTo>
                <a:lnTo>
                  <a:pt x="0" y="7155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2" name="TextBox 12"/>
          <p:cNvSpPr txBox="1"/>
          <p:nvPr/>
        </p:nvSpPr>
        <p:spPr>
          <a:xfrm>
            <a:off x="5075597" y="785964"/>
            <a:ext cx="7755250" cy="79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 b="1" spc="-338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TECHNICAL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4087" y="2205740"/>
            <a:ext cx="15579825" cy="7205669"/>
          </a:xfrm>
          <a:custGeom>
            <a:avLst/>
            <a:gdLst/>
            <a:ahLst/>
            <a:cxnLst/>
            <a:rect l="l" t="t" r="r" b="b"/>
            <a:pathLst>
              <a:path w="15579825" h="7205669">
                <a:moveTo>
                  <a:pt x="0" y="0"/>
                </a:moveTo>
                <a:lnTo>
                  <a:pt x="15579826" y="0"/>
                </a:lnTo>
                <a:lnTo>
                  <a:pt x="15579826" y="7205669"/>
                </a:lnTo>
                <a:lnTo>
                  <a:pt x="0" y="72056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TextBox 3"/>
          <p:cNvSpPr txBox="1"/>
          <p:nvPr/>
        </p:nvSpPr>
        <p:spPr>
          <a:xfrm>
            <a:off x="5075597" y="785964"/>
            <a:ext cx="7755250" cy="79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 b="1" spc="-338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WE USED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1209843" y="-602900"/>
            <a:ext cx="4554972" cy="1205800"/>
            <a:chOff x="0" y="0"/>
            <a:chExt cx="1199663" cy="31757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942871" y="9684100"/>
            <a:ext cx="4554972" cy="1205800"/>
            <a:chOff x="0" y="0"/>
            <a:chExt cx="1199663" cy="31757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1057443" y="-450500"/>
            <a:ext cx="4554972" cy="1205800"/>
            <a:chOff x="0" y="0"/>
            <a:chExt cx="1199663" cy="3175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09843" y="-602900"/>
            <a:ext cx="4554972" cy="1205800"/>
            <a:chOff x="0" y="0"/>
            <a:chExt cx="1199663" cy="3175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057443" y="-450500"/>
            <a:ext cx="4554972" cy="1205800"/>
            <a:chOff x="0" y="0"/>
            <a:chExt cx="1199663" cy="3175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942871" y="9684100"/>
            <a:ext cx="4554972" cy="1205800"/>
            <a:chOff x="0" y="0"/>
            <a:chExt cx="1199663" cy="3175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484349" y="2492999"/>
            <a:ext cx="9028591" cy="1659004"/>
          </a:xfrm>
          <a:custGeom>
            <a:avLst/>
            <a:gdLst/>
            <a:ahLst/>
            <a:cxnLst/>
            <a:rect l="l" t="t" r="r" b="b"/>
            <a:pathLst>
              <a:path w="9028591" h="1659004">
                <a:moveTo>
                  <a:pt x="0" y="0"/>
                </a:moveTo>
                <a:lnTo>
                  <a:pt x="9028591" y="0"/>
                </a:lnTo>
                <a:lnTo>
                  <a:pt x="9028591" y="1659003"/>
                </a:lnTo>
                <a:lnTo>
                  <a:pt x="0" y="16590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2" name="Freeform 12"/>
          <p:cNvSpPr/>
          <p:nvPr/>
        </p:nvSpPr>
        <p:spPr>
          <a:xfrm>
            <a:off x="11612287" y="2433133"/>
            <a:ext cx="4308946" cy="1718869"/>
          </a:xfrm>
          <a:custGeom>
            <a:avLst/>
            <a:gdLst/>
            <a:ahLst/>
            <a:cxnLst/>
            <a:rect l="l" t="t" r="r" b="b"/>
            <a:pathLst>
              <a:path w="4308946" h="1718869">
                <a:moveTo>
                  <a:pt x="0" y="0"/>
                </a:moveTo>
                <a:lnTo>
                  <a:pt x="4308946" y="0"/>
                </a:lnTo>
                <a:lnTo>
                  <a:pt x="4308946" y="1718869"/>
                </a:lnTo>
                <a:lnTo>
                  <a:pt x="0" y="1718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3" name="Freeform 13"/>
          <p:cNvSpPr/>
          <p:nvPr/>
        </p:nvSpPr>
        <p:spPr>
          <a:xfrm>
            <a:off x="4246721" y="4999727"/>
            <a:ext cx="8793146" cy="3989890"/>
          </a:xfrm>
          <a:custGeom>
            <a:avLst/>
            <a:gdLst/>
            <a:ahLst/>
            <a:cxnLst/>
            <a:rect l="l" t="t" r="r" b="b"/>
            <a:pathLst>
              <a:path w="8793146" h="3989890">
                <a:moveTo>
                  <a:pt x="0" y="0"/>
                </a:moveTo>
                <a:lnTo>
                  <a:pt x="8793146" y="0"/>
                </a:lnTo>
                <a:lnTo>
                  <a:pt x="8793146" y="3989890"/>
                </a:lnTo>
                <a:lnTo>
                  <a:pt x="0" y="39898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4" name="TextBox 14"/>
          <p:cNvSpPr txBox="1"/>
          <p:nvPr/>
        </p:nvSpPr>
        <p:spPr>
          <a:xfrm>
            <a:off x="3222192" y="935291"/>
            <a:ext cx="11843617" cy="705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b="1" spc="-295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FINDING 1 - KPI AND PERFORMANCE 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09843" y="-602900"/>
            <a:ext cx="4554972" cy="1205800"/>
            <a:chOff x="0" y="0"/>
            <a:chExt cx="1199663" cy="3175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057443" y="-450500"/>
            <a:ext cx="4554972" cy="1205800"/>
            <a:chOff x="0" y="0"/>
            <a:chExt cx="1199663" cy="3175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942871" y="9684100"/>
            <a:ext cx="4554972" cy="1205800"/>
            <a:chOff x="0" y="0"/>
            <a:chExt cx="1199663" cy="3175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3271637"/>
            <a:ext cx="16031157" cy="6412463"/>
          </a:xfrm>
          <a:custGeom>
            <a:avLst/>
            <a:gdLst/>
            <a:ahLst/>
            <a:cxnLst/>
            <a:rect l="l" t="t" r="r" b="b"/>
            <a:pathLst>
              <a:path w="16031157" h="6412463">
                <a:moveTo>
                  <a:pt x="0" y="0"/>
                </a:moveTo>
                <a:lnTo>
                  <a:pt x="16031157" y="0"/>
                </a:lnTo>
                <a:lnTo>
                  <a:pt x="16031157" y="6412463"/>
                </a:lnTo>
                <a:lnTo>
                  <a:pt x="0" y="64124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2" name="TextBox 12"/>
          <p:cNvSpPr txBox="1"/>
          <p:nvPr/>
        </p:nvSpPr>
        <p:spPr>
          <a:xfrm>
            <a:off x="3222192" y="935291"/>
            <a:ext cx="12267759" cy="705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b="1" spc="-295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FINDING 2 - MACHINE CONDITION CLUSTERING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1350" y="2195947"/>
            <a:ext cx="17305301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12121"/>
                </a:solidFill>
                <a:latin typeface="Open Sauce"/>
                <a:ea typeface="Open Sauce"/>
                <a:cs typeface="Open Sauce"/>
                <a:sym typeface="Open Sauce"/>
              </a:rPr>
              <a:t>KMeans applied to 8 sensor dimensions. Elbow method determined optimal cluster count. Each machine observation assigned a condition label — enabling proactive maintenance targeting.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09843" y="-602900"/>
            <a:ext cx="4554972" cy="1205800"/>
            <a:chOff x="0" y="0"/>
            <a:chExt cx="1199663" cy="3175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057443" y="-450500"/>
            <a:ext cx="4554972" cy="1205800"/>
            <a:chOff x="0" y="0"/>
            <a:chExt cx="1199663" cy="3175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942871" y="9684100"/>
            <a:ext cx="4554972" cy="1205800"/>
            <a:chOff x="0" y="0"/>
            <a:chExt cx="1199663" cy="3175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20043" y="2059874"/>
            <a:ext cx="8782935" cy="5818694"/>
          </a:xfrm>
          <a:custGeom>
            <a:avLst/>
            <a:gdLst/>
            <a:ahLst/>
            <a:cxnLst/>
            <a:rect l="l" t="t" r="r" b="b"/>
            <a:pathLst>
              <a:path w="8782935" h="5818694">
                <a:moveTo>
                  <a:pt x="0" y="0"/>
                </a:moveTo>
                <a:lnTo>
                  <a:pt x="8782935" y="0"/>
                </a:lnTo>
                <a:lnTo>
                  <a:pt x="8782935" y="5818695"/>
                </a:lnTo>
                <a:lnTo>
                  <a:pt x="0" y="58186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2" name="Freeform 12"/>
          <p:cNvSpPr/>
          <p:nvPr/>
        </p:nvSpPr>
        <p:spPr>
          <a:xfrm>
            <a:off x="10217181" y="6492387"/>
            <a:ext cx="7270821" cy="2247908"/>
          </a:xfrm>
          <a:custGeom>
            <a:avLst/>
            <a:gdLst/>
            <a:ahLst/>
            <a:cxnLst/>
            <a:rect l="l" t="t" r="r" b="b"/>
            <a:pathLst>
              <a:path w="7270821" h="2247908">
                <a:moveTo>
                  <a:pt x="0" y="0"/>
                </a:moveTo>
                <a:lnTo>
                  <a:pt x="7270821" y="0"/>
                </a:lnTo>
                <a:lnTo>
                  <a:pt x="7270821" y="2247908"/>
                </a:lnTo>
                <a:lnTo>
                  <a:pt x="0" y="2247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3" name="TextBox 13"/>
          <p:cNvSpPr txBox="1"/>
          <p:nvPr/>
        </p:nvSpPr>
        <p:spPr>
          <a:xfrm>
            <a:off x="3222192" y="935291"/>
            <a:ext cx="12267759" cy="705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b="1" spc="-295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FINDING 3 - SHIFT EFFICIENCY CLUSTERING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09843" y="-602900"/>
            <a:ext cx="4554972" cy="1205800"/>
            <a:chOff x="0" y="0"/>
            <a:chExt cx="1199663" cy="3175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057443" y="-450500"/>
            <a:ext cx="4554972" cy="1205800"/>
            <a:chOff x="0" y="0"/>
            <a:chExt cx="1199663" cy="3175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942871" y="9684100"/>
            <a:ext cx="4554972" cy="1205800"/>
            <a:chOff x="0" y="0"/>
            <a:chExt cx="1199663" cy="3175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74253" y="2413992"/>
            <a:ext cx="10065159" cy="6844308"/>
          </a:xfrm>
          <a:custGeom>
            <a:avLst/>
            <a:gdLst/>
            <a:ahLst/>
            <a:cxnLst/>
            <a:rect l="l" t="t" r="r" b="b"/>
            <a:pathLst>
              <a:path w="10065159" h="6844308">
                <a:moveTo>
                  <a:pt x="0" y="0"/>
                </a:moveTo>
                <a:lnTo>
                  <a:pt x="10065160" y="0"/>
                </a:lnTo>
                <a:lnTo>
                  <a:pt x="10065160" y="6844308"/>
                </a:lnTo>
                <a:lnTo>
                  <a:pt x="0" y="68443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2" name="TextBox 12"/>
          <p:cNvSpPr txBox="1"/>
          <p:nvPr/>
        </p:nvSpPr>
        <p:spPr>
          <a:xfrm>
            <a:off x="3222192" y="935291"/>
            <a:ext cx="12267759" cy="705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b="1" spc="-295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FINDING 4 - SHIFT EFFICIENCY CLUSTERING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53130" y="4757275"/>
            <a:ext cx="5206170" cy="1772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9"/>
              </a:lnSpc>
              <a:spcBef>
                <a:spcPct val="0"/>
              </a:spcBef>
            </a:pPr>
            <a:r>
              <a:rPr lang="en-US" sz="2035">
                <a:solidFill>
                  <a:srgbClr val="212121"/>
                </a:solidFill>
                <a:latin typeface="Open Sauce"/>
                <a:ea typeface="Open Sauce"/>
                <a:cs typeface="Open Sauce"/>
                <a:sym typeface="Open Sauce"/>
              </a:rPr>
              <a:t>Findings: high temperature → power consumption increases, error rate increases, units produced decreases. Maintain operating temperature below Q3 for optimal efficiency.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09843" y="-602900"/>
            <a:ext cx="4554972" cy="1205800"/>
            <a:chOff x="0" y="0"/>
            <a:chExt cx="1199663" cy="3175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057443" y="-450500"/>
            <a:ext cx="4554972" cy="1205800"/>
            <a:chOff x="0" y="0"/>
            <a:chExt cx="1199663" cy="3175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942871" y="9684100"/>
            <a:ext cx="4554972" cy="1205800"/>
            <a:chOff x="0" y="0"/>
            <a:chExt cx="1199663" cy="3175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3851897" y="2058387"/>
            <a:ext cx="10584205" cy="7025266"/>
          </a:xfrm>
          <a:custGeom>
            <a:avLst/>
            <a:gdLst/>
            <a:ahLst/>
            <a:cxnLst/>
            <a:rect l="l" t="t" r="r" b="b"/>
            <a:pathLst>
              <a:path w="10584205" h="7025266">
                <a:moveTo>
                  <a:pt x="0" y="0"/>
                </a:moveTo>
                <a:lnTo>
                  <a:pt x="10584206" y="0"/>
                </a:lnTo>
                <a:lnTo>
                  <a:pt x="10584206" y="7025266"/>
                </a:lnTo>
                <a:lnTo>
                  <a:pt x="0" y="70252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2" name="TextBox 12"/>
          <p:cNvSpPr txBox="1"/>
          <p:nvPr/>
        </p:nvSpPr>
        <p:spPr>
          <a:xfrm>
            <a:off x="3222192" y="935291"/>
            <a:ext cx="12267759" cy="705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b="1" spc="-295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FINDING 5 - QUALITY CONTROL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09843" y="-602900"/>
            <a:ext cx="4554972" cy="1205800"/>
            <a:chOff x="0" y="0"/>
            <a:chExt cx="1199663" cy="3175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057443" y="-450500"/>
            <a:ext cx="4554972" cy="1205800"/>
            <a:chOff x="0" y="0"/>
            <a:chExt cx="1199663" cy="3175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942871" y="9684100"/>
            <a:ext cx="4554972" cy="1205800"/>
            <a:chOff x="0" y="0"/>
            <a:chExt cx="1199663" cy="3175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3604721" y="2075032"/>
            <a:ext cx="11502701" cy="7174810"/>
          </a:xfrm>
          <a:custGeom>
            <a:avLst/>
            <a:gdLst/>
            <a:ahLst/>
            <a:cxnLst/>
            <a:rect l="l" t="t" r="r" b="b"/>
            <a:pathLst>
              <a:path w="11502701" h="7174810">
                <a:moveTo>
                  <a:pt x="0" y="0"/>
                </a:moveTo>
                <a:lnTo>
                  <a:pt x="11502700" y="0"/>
                </a:lnTo>
                <a:lnTo>
                  <a:pt x="11502700" y="7174810"/>
                </a:lnTo>
                <a:lnTo>
                  <a:pt x="0" y="7174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2" name="TextBox 12"/>
          <p:cNvSpPr txBox="1"/>
          <p:nvPr/>
        </p:nvSpPr>
        <p:spPr>
          <a:xfrm>
            <a:off x="3222192" y="935291"/>
            <a:ext cx="12267759" cy="705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b="1" spc="-295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FINDING 5 - PRODUCTION LINE PERFORMANCE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914372" y="1902122"/>
            <a:ext cx="1751694" cy="6482756"/>
            <a:chOff x="0" y="0"/>
            <a:chExt cx="461351" cy="17073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1351" cy="1707392"/>
            </a:xfrm>
            <a:custGeom>
              <a:avLst/>
              <a:gdLst/>
              <a:ahLst/>
              <a:cxnLst/>
              <a:rect l="l" t="t" r="r" b="b"/>
              <a:pathLst>
                <a:path w="461351" h="1707392">
                  <a:moveTo>
                    <a:pt x="154689" y="0"/>
                  </a:moveTo>
                  <a:lnTo>
                    <a:pt x="306663" y="0"/>
                  </a:lnTo>
                  <a:cubicBezTo>
                    <a:pt x="347689" y="0"/>
                    <a:pt x="387034" y="16298"/>
                    <a:pt x="416044" y="45307"/>
                  </a:cubicBezTo>
                  <a:cubicBezTo>
                    <a:pt x="445054" y="74317"/>
                    <a:pt x="461351" y="113663"/>
                    <a:pt x="461351" y="154689"/>
                  </a:cubicBezTo>
                  <a:lnTo>
                    <a:pt x="461351" y="1552704"/>
                  </a:lnTo>
                  <a:cubicBezTo>
                    <a:pt x="461351" y="1593730"/>
                    <a:pt x="445054" y="1633076"/>
                    <a:pt x="416044" y="1662085"/>
                  </a:cubicBezTo>
                  <a:cubicBezTo>
                    <a:pt x="387034" y="1691095"/>
                    <a:pt x="347689" y="1707392"/>
                    <a:pt x="306663" y="1707392"/>
                  </a:cubicBezTo>
                  <a:lnTo>
                    <a:pt x="154689" y="1707392"/>
                  </a:lnTo>
                  <a:cubicBezTo>
                    <a:pt x="113663" y="1707392"/>
                    <a:pt x="74317" y="1691095"/>
                    <a:pt x="45307" y="1662085"/>
                  </a:cubicBezTo>
                  <a:cubicBezTo>
                    <a:pt x="16298" y="1633076"/>
                    <a:pt x="0" y="1593730"/>
                    <a:pt x="0" y="1552704"/>
                  </a:cubicBezTo>
                  <a:lnTo>
                    <a:pt x="0" y="154689"/>
                  </a:lnTo>
                  <a:cubicBezTo>
                    <a:pt x="0" y="113663"/>
                    <a:pt x="16298" y="74317"/>
                    <a:pt x="45307" y="45307"/>
                  </a:cubicBezTo>
                  <a:cubicBezTo>
                    <a:pt x="74317" y="16298"/>
                    <a:pt x="113663" y="0"/>
                    <a:pt x="154689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1351" cy="1745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53513" y="4345769"/>
            <a:ext cx="16380973" cy="2111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04"/>
              </a:lnSpc>
            </a:pPr>
            <a:r>
              <a:rPr lang="en-US" sz="18400" b="1" spc="-1324">
                <a:solidFill>
                  <a:srgbClr val="E9E9E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THANK YOU!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594906" y="3680317"/>
            <a:ext cx="721160" cy="296850"/>
            <a:chOff x="0" y="0"/>
            <a:chExt cx="189935" cy="7818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9935" cy="78183"/>
            </a:xfrm>
            <a:custGeom>
              <a:avLst/>
              <a:gdLst/>
              <a:ahLst/>
              <a:cxnLst/>
              <a:rect l="l" t="t" r="r" b="b"/>
              <a:pathLst>
                <a:path w="189935" h="78183">
                  <a:moveTo>
                    <a:pt x="39091" y="0"/>
                  </a:moveTo>
                  <a:lnTo>
                    <a:pt x="150844" y="0"/>
                  </a:lnTo>
                  <a:cubicBezTo>
                    <a:pt x="172433" y="0"/>
                    <a:pt x="189935" y="17502"/>
                    <a:pt x="189935" y="39091"/>
                  </a:cubicBezTo>
                  <a:lnTo>
                    <a:pt x="189935" y="39091"/>
                  </a:lnTo>
                  <a:cubicBezTo>
                    <a:pt x="189935" y="49459"/>
                    <a:pt x="185817" y="59402"/>
                    <a:pt x="178485" y="66733"/>
                  </a:cubicBezTo>
                  <a:cubicBezTo>
                    <a:pt x="171154" y="74064"/>
                    <a:pt x="161211" y="78183"/>
                    <a:pt x="150844" y="78183"/>
                  </a:cubicBezTo>
                  <a:lnTo>
                    <a:pt x="39091" y="78183"/>
                  </a:lnTo>
                  <a:cubicBezTo>
                    <a:pt x="28724" y="78183"/>
                    <a:pt x="18781" y="74064"/>
                    <a:pt x="11450" y="66733"/>
                  </a:cubicBezTo>
                  <a:cubicBezTo>
                    <a:pt x="4119" y="59402"/>
                    <a:pt x="0" y="49459"/>
                    <a:pt x="0" y="39091"/>
                  </a:cubicBezTo>
                  <a:lnTo>
                    <a:pt x="0" y="39091"/>
                  </a:lnTo>
                  <a:cubicBezTo>
                    <a:pt x="0" y="28724"/>
                    <a:pt x="4119" y="18781"/>
                    <a:pt x="11450" y="11450"/>
                  </a:cubicBezTo>
                  <a:cubicBezTo>
                    <a:pt x="18781" y="4119"/>
                    <a:pt x="28724" y="0"/>
                    <a:pt x="39091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89935" cy="116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96244" y="3680317"/>
            <a:ext cx="296850" cy="29685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603582" y="4058279"/>
            <a:ext cx="9080836" cy="1941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19"/>
              </a:lnSpc>
            </a:pPr>
            <a:r>
              <a:rPr lang="en-US" sz="11299" b="1" spc="-813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THANK YOU!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62617" y="9229725"/>
            <a:ext cx="1562766" cy="240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3"/>
              </a:lnSpc>
            </a:pPr>
            <a:r>
              <a:rPr lang="en-US" sz="1395" spc="-12">
                <a:solidFill>
                  <a:srgbClr val="212121"/>
                </a:solidFill>
                <a:latin typeface="Open Sauce"/>
                <a:ea typeface="Open Sauce"/>
                <a:cs typeface="Open Sauce"/>
                <a:sym typeface="Open Sauce"/>
              </a:rPr>
              <a:t>PRESENTED BY: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35763" y="9441934"/>
            <a:ext cx="2416473" cy="240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3"/>
              </a:lnSpc>
            </a:pPr>
            <a:r>
              <a:rPr lang="en-US" sz="1395" b="1" spc="-12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GURUH SUKMO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-1209843" y="-602900"/>
            <a:ext cx="4554972" cy="1205800"/>
            <a:chOff x="0" y="0"/>
            <a:chExt cx="1199663" cy="31757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942871" y="9684100"/>
            <a:ext cx="4554972" cy="1205800"/>
            <a:chOff x="0" y="0"/>
            <a:chExt cx="1199663" cy="31757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99663" cy="317577"/>
            </a:xfrm>
            <a:custGeom>
              <a:avLst/>
              <a:gdLst/>
              <a:ahLst/>
              <a:cxnLst/>
              <a:rect l="l" t="t" r="r" b="b"/>
              <a:pathLst>
                <a:path w="1199663" h="317577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261</Words>
  <Application>Microsoft Office PowerPoint</Application>
  <PresentationFormat>Custom</PresentationFormat>
  <Paragraphs>53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Open Sauce</vt:lpstr>
      <vt:lpstr>Arial</vt:lpstr>
      <vt:lpstr>Signature</vt:lpstr>
      <vt:lpstr>Open Sauce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PRODUCTION PRODUCTION</dc:title>
  <cp:lastModifiedBy>Guruh Sukmo</cp:lastModifiedBy>
  <cp:revision>2</cp:revision>
  <dcterms:created xsi:type="dcterms:W3CDTF">2006-08-16T00:00:00Z</dcterms:created>
  <dcterms:modified xsi:type="dcterms:W3CDTF">2026-04-03T09:01:59Z</dcterms:modified>
  <dc:identifier>DAHFOIuVvws</dc:identifier>
</cp:coreProperties>
</file>